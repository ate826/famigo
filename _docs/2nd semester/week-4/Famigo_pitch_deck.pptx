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04" autoAdjust="0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6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Посетители</c:v>
                </c:pt>
              </c:strCache>
            </c:strRef>
          </c:tx>
          <c:spPr>
            <a:solidFill>
              <a:srgbClr val="667A5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0221F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Прямые заходы</c:v>
                </c:pt>
                <c:pt idx="1">
                  <c:v>Сохран. страницы</c:v>
                </c:pt>
                <c:pt idx="2">
                  <c:v>Ссылки на сайтах</c:v>
                </c:pt>
                <c:pt idx="3">
                  <c:v>Поиск. системы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5</c:v>
                </c:pt>
                <c:pt idx="2">
                  <c:v>4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05-4417-98DC-C7102130942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0221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Распределение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67A5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411-45B8-A25C-49AA1F64DAE2}"/>
              </c:ext>
            </c:extLst>
          </c:dPt>
          <c:dPt>
            <c:idx val="1"/>
            <c:bubble3D val="0"/>
            <c:spPr>
              <a:solidFill>
                <a:srgbClr val="D38A6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411-45B8-A25C-49AA1F64DAE2}"/>
              </c:ext>
            </c:extLst>
          </c:dPt>
          <c:dPt>
            <c:idx val="2"/>
            <c:bubble3D val="0"/>
            <c:spPr>
              <a:solidFill>
                <a:srgbClr val="73766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411-45B8-A25C-49AA1F64DAE2}"/>
              </c:ext>
            </c:extLst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411-45B8-A25C-49AA1F64DAE2}"/>
                </c:ext>
              </c:extLst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411-45B8-A25C-49AA1F64DAE2}"/>
                </c:ext>
              </c:extLst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411-45B8-A25C-49AA1F64DAE2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Разработка</c:v>
                </c:pt>
                <c:pt idx="1">
                  <c:v>Маркетинг</c:v>
                </c:pt>
                <c:pt idx="2">
                  <c:v>Инфраструктура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411-45B8-A25C-49AA1F64DA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0221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8070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ELEVATOR PITCH (~90 сек, адаптировать под 1,5-2 минуты, говорить от первого лица "мы"):
Мы создаём Famigo — цифровое пространство, где собрана вся жизнь семьи. Сегодня бюджет, календарь, список покупок и общение разбросаны по десятку разных приложений, и никто в семье не видит полной картины. Famigo связывает эти разделы между собой: купили продукт — обновился бюджет, создали событие в календаре — пришло уведомление в общий чат.
Мы уже разрабатываем MVP на React, Node.js и PostgreSQL и привлекаем 50 000 долларов на посевном раунде, чтобы завершить продукт и запустить его для первых семей-пользователей. Мы — команда из трёх разработчиков с опытом в архитектуре, анализе и маркетинге, и ищем инвестора, который поможет нам выйти на рынок семейных приложений нового поколения.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67A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097280"/>
            <a:ext cx="3840480" cy="3840480"/>
          </a:xfrm>
          <a:prstGeom prst="ellipse">
            <a:avLst/>
          </a:prstGeom>
          <a:solidFill>
            <a:srgbClr val="E5EBE0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120640"/>
            <a:ext cx="2743200" cy="2743200"/>
          </a:xfrm>
          <a:prstGeom prst="ellipse">
            <a:avLst/>
          </a:prstGeom>
          <a:solidFill>
            <a:srgbClr val="D38A62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4754880"/>
            <a:ext cx="3108960" cy="3108960"/>
          </a:xfrm>
          <a:prstGeom prst="ellipse">
            <a:avLst/>
          </a:prstGeom>
          <a:solidFill>
            <a:srgbClr val="F3E2D8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5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· FAMIGO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Famigo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3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важное для семьи — в одном месте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5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Веб-приложение, объединяющее бюджет, календарь, продукты и общение семьи в единое связанное пространство.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4160520" cy="384048"/>
          </a:xfrm>
          <a:prstGeom prst="roundRect">
            <a:avLst>
              <a:gd name="adj" fmla="val 50000"/>
            </a:avLst>
          </a:prstGeom>
          <a:solidFill>
            <a:srgbClr val="F3E2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4348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бизнес-ангела и грантовых программ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5806440"/>
            <a:ext cx="3291840" cy="0"/>
          </a:xfrm>
          <a:prstGeom prst="line">
            <a:avLst/>
          </a:prstGeom>
          <a:noFill/>
          <a:ln w="9525">
            <a:solidFill>
              <a:srgbClr val="E5EBE0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Цейсновский А.Э.  ·  Лапутин С.А.  ·  Толмачев Г.А.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5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Стартап в информационных технологиях · 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Жизнь семьи разбросана по десятку приложений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— в одном приложении, покупки — в заметках, календарь — в телефоне каждого члена семьи по отдельности, общение — в мессенджере. Информация не связана между собой, и никто в семье не видит полной картины: сколько денег осталось, что купить, кто и куда поедет на этой неделе.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5196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E5EBE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4074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6817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Семьи теряют время на переключение между сервисами и упускают договорённости — от несделанных покупок до пропущенных событий.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26480" y="173736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2011680"/>
            <a:ext cx="548640" cy="548640"/>
          </a:xfrm>
          <a:prstGeom prst="ellipse">
            <a:avLst/>
          </a:prstGeom>
          <a:solidFill>
            <a:srgbClr val="F3E2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697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Финансы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для учёта трат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61120" y="173736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2011680"/>
            <a:ext cx="548640" cy="548640"/>
          </a:xfrm>
          <a:prstGeom prst="ellipse">
            <a:avLst/>
          </a:prstGeom>
          <a:solidFill>
            <a:srgbClr val="F3E2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354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189720" y="2697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18972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— свой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388620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4160520"/>
            <a:ext cx="548640" cy="548640"/>
          </a:xfrm>
          <a:prstGeom prst="ellipse">
            <a:avLst/>
          </a:prstGeom>
          <a:solidFill>
            <a:srgbClr val="F3E2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🧊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Покупки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5166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заметки на телефоне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961120" y="388620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35440" y="4160520"/>
            <a:ext cx="548640" cy="548640"/>
          </a:xfrm>
          <a:prstGeom prst="ellipse">
            <a:avLst/>
          </a:prstGeom>
          <a:solidFill>
            <a:srgbClr val="F3E2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2354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18972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Общение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189720" y="5166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мессенджер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Разрозненные инструменты — ни один не видит общей картины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Famigo связывает разделы в единый сценарий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Вместо набора изолированных функций — цифровое пространство семьи, где дом, бюджет, продукты, календарь и общение связаны между собой и обновляются вместе.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877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 И БЮДЖЕТ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667A5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9260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926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807208" y="29260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667A5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16936" y="29260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Холодильник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2926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65776" y="29260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667A5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175504" y="29260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Продукты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40296" y="2926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324344" y="29260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667A5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29260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198864" y="2926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582912" y="29260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667A5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92640" y="29260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959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СЕМЬЯ И СОБЫТИЯ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D38A6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42976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Член семьи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423160" y="42976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2807208" y="42976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D38A6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916936" y="42976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681728" y="42976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065776" y="42976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D38A6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175504" y="42976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940296" y="42976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324344" y="42976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D38A6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34072" y="42976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Уведомление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198864" y="42976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582912" y="42976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D38A6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692640" y="42976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349240"/>
            <a:ext cx="10789920" cy="1005840"/>
          </a:xfrm>
          <a:prstGeom prst="roundRect">
            <a:avLst>
              <a:gd name="adj" fmla="val 9091"/>
            </a:avLst>
          </a:prstGeom>
          <a:solidFill>
            <a:srgbClr val="E5EBE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68680" y="53492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ценность: изменение в одном разделе автоматически отражается в других — покупка продукта списывает бюджет, событие в календаре создаёт уведомление в чате.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Шесть связанных разделов — один аккаунт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1907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отличие от Cozi и FamilyWall, где функции изолированы, в Famigo разделы обновляются вместе — это и есть ключевое отличие от альтернатив.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68296"/>
            <a:ext cx="512064" cy="51206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368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9008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0098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участники, роли, приглашения по ссылке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33672" y="214884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62272" y="2368296"/>
            <a:ext cx="512064" cy="512064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62272" y="2368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299008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62272" y="330098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общие доходы и расходы, история операций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18704" y="214884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47304" y="2368296"/>
            <a:ext cx="512064" cy="51206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47304" y="2368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99008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47304" y="330098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общие события с доступом по ролям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242816"/>
            <a:ext cx="512064" cy="512064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4242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🧊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86460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Холодильник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7550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продуктов и срока годности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33672" y="402336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62272" y="4242816"/>
            <a:ext cx="512064" cy="51206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462272" y="4242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462272" y="486460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462272" y="517550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члены семьи, дома, сохранённые места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18704" y="402336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47304" y="4242816"/>
            <a:ext cx="512064" cy="512064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147304" y="4242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147304" y="486460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Чаты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147304" y="517550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семейное общение в реальном времени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8338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пользователя MVP:  Вход  →  Семья  →  Dashboard  →  Дом · Бюджет · Календарь · Чаты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10819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i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</a:t>
            </a:r>
            <a:r>
              <a:rPr lang="en-US" sz="1100" i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React · Go· PostgreSQL · WebSocket · Docker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Семейная цифровизация растёт, но остаётся фрагментированной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больше семей ведут быт цифровыми инструментами — от бюджетных приложений до семейных календарей. Но рынок состоит из узкоспециализированных сервисов: каждый закрывает одну задачу и не связан с остальными.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аудитория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977640"/>
            <a:ext cx="91440" cy="91440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858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Молодые семьи, ведущие общий бюджет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91440" cy="91440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315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Семьи с детьми и насыщенным календарём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91440" cy="91440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/>
              <a:t>Владельцы нескольких домов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89320" y="1691640"/>
            <a:ext cx="534924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4767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 на фоне рынка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72200" y="2414016"/>
            <a:ext cx="4983480" cy="566928"/>
          </a:xfrm>
          <a:prstGeom prst="rect">
            <a:avLst/>
          </a:prstGeom>
          <a:solidFill>
            <a:srgbClr val="E5EB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2468880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468880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Cozi / FamilyWall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0" y="2468880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035808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и траты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03580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/ отдельно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0" y="303580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547872"/>
            <a:ext cx="4983480" cy="566928"/>
          </a:xfrm>
          <a:prstGeom prst="rect">
            <a:avLst/>
          </a:prstGeom>
          <a:solidFill>
            <a:srgbClr val="F5F3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3602736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семьи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458200" y="360273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0" y="360273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4169664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продуктов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458200" y="4169664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4169664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4681728"/>
            <a:ext cx="4983480" cy="566928"/>
          </a:xfrm>
          <a:prstGeom prst="rect">
            <a:avLst/>
          </a:prstGeom>
          <a:solidFill>
            <a:srgbClr val="F5F3E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09360" y="4736592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связаны между собой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458200" y="4736592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0" y="4736592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БИЗНЕС-МОДЕЛЬ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Монетизация через подписку и партнёрства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48840"/>
            <a:ext cx="640080" cy="640080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🆓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Freemium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42900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функции — семья, календарь, чат, бюджет — бесплатно для всех пользователей.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33672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148840"/>
            <a:ext cx="640080" cy="640080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(250 </a:t>
            </a:r>
            <a:r>
              <a:rPr lang="ru-RU" sz="1800" b="1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руб. </a:t>
            </a:r>
            <a:r>
              <a:rPr lang="ru-RU" sz="18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 мес.)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42900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Расширенная аналитика бюджета, больше домов и участников, </a:t>
            </a:r>
            <a:r>
              <a:rPr lang="ru-RU" sz="13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приоритетная</a:t>
            </a:r>
            <a:r>
              <a:rPr lang="en-US" sz="13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поддержка, геолокация членов семьи.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1312" y="2148840"/>
            <a:ext cx="640080" cy="640080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11312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11312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B2B-партнёрства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342900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сервисами доставки продуктов и банками для автоматического учёта трат.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ПРОГРЕСС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Лендинг запущен — есть первые посетители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749040" cy="365760"/>
          </a:xfrm>
          <a:prstGeom prst="roundRect">
            <a:avLst>
              <a:gd name="adj" fmla="val 50000"/>
            </a:avLst>
          </a:prstGeom>
          <a:solidFill>
            <a:srgbClr val="E5EB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Этап: Pre-seed · Лендинг live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1284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 к MVP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05456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Регистрация и авторизация, семья и приглашения, бюджет, календарь, холодильник, семейный чат.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529584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667A5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29584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3529584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331720" y="3529584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F3E2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331720" y="3529584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3529584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0" y="3529584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F3E2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114800" y="3529584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59936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сценарий: семья, бюджет, календарь, продукты, чат   ·   Уведомления, карта, список покупок, оповещения о </a:t>
            </a:r>
            <a:r>
              <a:rPr lang="en-US" sz="1100" dirty="0" err="1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продуктах</a:t>
            </a:r>
            <a:r>
              <a:rPr lang="en-US" sz="11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Real-time </a:t>
            </a:r>
            <a:r>
              <a:rPr lang="en-US" sz="1100" dirty="0" err="1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геолокация</a:t>
            </a:r>
            <a:r>
              <a:rPr lang="en-US" sz="11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push, </a:t>
            </a:r>
            <a:r>
              <a:rPr lang="en-US" sz="1100" dirty="0" err="1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r>
              <a:rPr lang="en-US" sz="11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1091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07.09.2026 — список покупок добавлен в экосистему, рассматривается для включения в MVP.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1691640"/>
            <a:ext cx="507492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192938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Лендинг Famigo: первые данные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22199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Яндекс.Метрика · сентябрь 2026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251460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посетителей · 21 визит · 49 просмотров · 2,33 стр/визит · 4 м 4 с на сайте · 38,1 % отказов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0" y="2916936"/>
            <a:ext cx="4434840" cy="0"/>
          </a:xfrm>
          <a:prstGeom prst="line">
            <a:avLst/>
          </a:prstGeom>
          <a:noFill/>
          <a:ln w="9525">
            <a:solidFill>
              <a:srgbClr val="E4E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0" y="3008376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трафика (посетители)</a:t>
            </a:r>
            <a:endParaRPr lang="en-US" sz="110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6446520" y="3227832"/>
          <a:ext cx="470916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" name="Text 2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76CD4ACF-AD35-EAE2-7942-4603EA4DC7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4000" y="4472774"/>
            <a:ext cx="4965337" cy="15963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роли, закрывающие продукт, технологию и рост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48840"/>
            <a:ext cx="822960" cy="822960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ЦА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154680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Цейсновский А.Э.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520440"/>
            <a:ext cx="2916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Тимлид / разработчик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93192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проекта, разработка, координация команды.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33672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148840"/>
            <a:ext cx="822960" cy="822960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ЛС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54680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Лапутин С.А.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520440"/>
            <a:ext cx="2916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/ аналитик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93192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требований, разработка, проработка функциональности.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18704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11312" y="2148840"/>
            <a:ext cx="822960" cy="822960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11312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ТГ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8211312" y="3154680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Толмачев Г.А.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8211312" y="3520440"/>
            <a:ext cx="2916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/ маркетолог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393192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Разработка, маркетинговая стратегия, анализ рынка и аудитории.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ИНВЕСТИЦИИ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Привлекаем средства на запуск MVP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5800" b="1" dirty="0">
                <a:solidFill>
                  <a:srgbClr val="66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3500000₽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Средства пойдут на завершение MVP, запуск для первых семей-пользователей и </a:t>
            </a:r>
            <a:r>
              <a:rPr lang="en-US" sz="1350" dirty="0" err="1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</a:t>
            </a:r>
            <a:r>
              <a:rPr lang="ru-RU" sz="13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50" dirty="0" err="1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продвижени</a:t>
            </a:r>
            <a:r>
              <a:rPr lang="ru-RU" sz="13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</a:t>
            </a:r>
            <a:r>
              <a:rPr lang="en-US" sz="13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продукта</a:t>
            </a:r>
            <a:r>
              <a:rPr lang="ru-RU" sz="13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его обслуживание в течение 6 месяцев</a:t>
            </a:r>
            <a:r>
              <a:rPr lang="en-US" sz="13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47091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5EB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864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1389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 проекте — по договорённости, ориентир на раунд предпосевной стадии.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пойдут средства</a:t>
            </a:r>
            <a:endParaRPr lang="en-US" sz="12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5623560" y="2148840"/>
          <a:ext cx="493776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67A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3657600" cy="3657600"/>
          </a:xfrm>
          <a:prstGeom prst="ellipse">
            <a:avLst/>
          </a:prstGeom>
          <a:solidFill>
            <a:srgbClr val="E5EBE0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937760"/>
            <a:ext cx="3108960" cy="3108960"/>
          </a:xfrm>
          <a:prstGeom prst="ellipse">
            <a:avLst/>
          </a:prstGeom>
          <a:solidFill>
            <a:srgbClr val="F3E2D8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202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Спасибо!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3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 — свяжем семью в одном цифровом пространстве.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023360"/>
            <a:ext cx="3291840" cy="0"/>
          </a:xfrm>
          <a:prstGeom prst="line">
            <a:avLst/>
          </a:prstGeom>
          <a:noFill/>
          <a:ln w="9525">
            <a:solidFill>
              <a:srgbClr val="E5EBE0">
                <a:alpha val="6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251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Цейсновский А.Э. — тимлид, разработка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617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Лапутин С.А. — анализ, разработка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983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Толмачев Г.А. — маркетинг, разработка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5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5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960</Words>
  <Application>Microsoft Office PowerPoint</Application>
  <PresentationFormat>Широкоэкранный</PresentationFormat>
  <Paragraphs>177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ToniTsey</cp:lastModifiedBy>
  <cp:revision>5</cp:revision>
  <dcterms:created xsi:type="dcterms:W3CDTF">2026-09-29T10:23:32Z</dcterms:created>
  <dcterms:modified xsi:type="dcterms:W3CDTF">2026-10-06T11:47:50Z</dcterms:modified>
</cp:coreProperties>
</file>