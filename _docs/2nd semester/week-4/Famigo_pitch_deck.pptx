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Распределение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667A55"/>
              </a:solidFill>
              <a:effectLst/>
            </c:spPr>
          </c:dPt>
          <c:dPt>
            <c:idx val="1"/>
            <c:bubble3D val="0"/>
            <c:spPr>
              <a:solidFill>
                <a:srgbClr val="D38A62"/>
              </a:solidFill>
              <a:effectLst/>
            </c:spPr>
          </c:dPt>
          <c:dPt>
            <c:idx val="2"/>
            <c:bubble3D val="0"/>
            <c:spPr>
              <a:solidFill>
                <a:srgbClr val="73766F"/>
              </a:solidFill>
              <a:effectLst/>
            </c:spPr>
          </c:dPt>
          <c:dLbls>
            <c:dLbl>
              <c:idx val="0"/>
              <c:numFmt formatCode="0&quot;%&quot;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&quot;%&quot;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&quot;%&quot;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Разработка</c:v>
                </c:pt>
                <c:pt idx="1">
                  <c:v>Маркетинг</c:v>
                </c:pt>
                <c:pt idx="2">
                  <c:v>Инфраструктура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0221F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ELEVATOR PITCH (~90 сек, адаптировать под 1,5-2 минуты, говорить от первого лица "мы"):
Мы создаём Famigo — цифровое пространство, где собрана вся жизнь семьи. Сегодня бюджет, календарь, список покупок и общение разбросаны по десятку разных приложений, и никто в семье не видит полной картины. Famigo связывает эти разделы между собой: купили продукт — обновился бюджет, создали событие в календаре — пришло уведомление в общий чат.
Мы уже разрабатываем MVP на React, Node.js и PostgreSQL и привлекаем 50 000 долларов на посевном раунде, чтобы завершить продукт и запустить его для первых семей-пользователей. Мы — команда из трёх разработчиков с опытом в архитектуре, анализе и маркетинге, и ищем инвестора, который поможет нам выйти на рынок семейных приложений нового поколения.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67A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097280"/>
            <a:ext cx="3840480" cy="3840480"/>
          </a:xfrm>
          <a:prstGeom prst="ellipse">
            <a:avLst/>
          </a:prstGeom>
          <a:solidFill>
            <a:srgbClr val="E5EBE0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5120640"/>
            <a:ext cx="2743200" cy="2743200"/>
          </a:xfrm>
          <a:prstGeom prst="ellipse">
            <a:avLst/>
          </a:prstGeom>
          <a:solidFill>
            <a:srgbClr val="D38A62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188720" y="4754880"/>
            <a:ext cx="3108960" cy="3108960"/>
          </a:xfrm>
          <a:prstGeom prst="ellipse">
            <a:avLst/>
          </a:prstGeom>
          <a:solidFill>
            <a:srgbClr val="F3E2D8">
              <a:alpha val="12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417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5E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DECK · FAMIGO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82880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Famigo</a:t>
            </a:r>
            <a:endParaRPr lang="en-US" sz="7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063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3E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Всё важное для семьи — в одном месте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70332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5E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Веб-приложение, объединяющее бюджет, календарь, продукты и общение семьи в единое связанное пространство.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4434840"/>
            <a:ext cx="4160520" cy="384048"/>
          </a:xfrm>
          <a:prstGeom prst="roundRect">
            <a:avLst>
              <a:gd name="adj" fmla="val 50000"/>
            </a:avLst>
          </a:prstGeom>
          <a:solidFill>
            <a:srgbClr val="F3E2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4434840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38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бизнес-ангела и грантовых программ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22960" y="5806440"/>
            <a:ext cx="3291840" cy="0"/>
          </a:xfrm>
          <a:prstGeom prst="line">
            <a:avLst/>
          </a:prstGeom>
          <a:noFill/>
          <a:ln w="9525">
            <a:solidFill>
              <a:srgbClr val="E5EBE0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5943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Цейсновский А.Э.  ·  Лапутин С.А.  ·  Толмачев Г.А.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62362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5E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Стартап в информационных технологиях · Сентябрь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022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Жизнь семьи разбросана по десятку приложений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120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 — в одном приложении, покупки — в заметках, календарь — в телефоне каждого члена семьи по отдельности, общение — в мессенджере. Информация не связана между собой, и никто в семье не видит полной картины: сколько денег осталось, что купить, кто и куда поедет на этой неделе.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251960"/>
            <a:ext cx="5120640" cy="1417320"/>
          </a:xfrm>
          <a:prstGeom prst="roundRect">
            <a:avLst>
              <a:gd name="adj" fmla="val 6452"/>
            </a:avLst>
          </a:prstGeom>
          <a:solidFill>
            <a:srgbClr val="E5EBE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44074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681728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Семьи теряют время на переключение между сервисами и упускают договорённости — от несделанных покупок до пропущенных событий.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126480" y="1737360"/>
            <a:ext cx="260604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4E4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2011680"/>
            <a:ext cx="548640" cy="548640"/>
          </a:xfrm>
          <a:prstGeom prst="ellipse">
            <a:avLst/>
          </a:prstGeom>
          <a:solidFill>
            <a:srgbClr val="F3E2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355080" y="26974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Финансы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355080" y="30175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для учёта трат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961120" y="1737360"/>
            <a:ext cx="260604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4E4D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235440" y="2011680"/>
            <a:ext cx="548640" cy="548640"/>
          </a:xfrm>
          <a:prstGeom prst="ellipse">
            <a:avLst/>
          </a:prstGeom>
          <a:solidFill>
            <a:srgbClr val="F3E2D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23544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9189720" y="26974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Календарь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9189720" y="30175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каждого — свой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126480" y="3886200"/>
            <a:ext cx="260604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4E4D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0" y="4160520"/>
            <a:ext cx="548640" cy="548640"/>
          </a:xfrm>
          <a:prstGeom prst="ellipse">
            <a:avLst/>
          </a:prstGeom>
          <a:solidFill>
            <a:srgbClr val="F3E2D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0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🧊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6355080" y="4846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Покупки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355080" y="5166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заметки на телефоне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8961120" y="3886200"/>
            <a:ext cx="260604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4E4D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235440" y="4160520"/>
            <a:ext cx="548640" cy="548640"/>
          </a:xfrm>
          <a:prstGeom prst="ellipse">
            <a:avLst/>
          </a:prstGeom>
          <a:solidFill>
            <a:srgbClr val="F3E2D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235440" y="4160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9189720" y="4846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Общение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189720" y="5166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отдельный мессенджер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6126480" y="5989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Разрозненные инструменты — ни один не видит общей картины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Famigo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022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Famigo связывает разделы в единый сценарий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Вместо набора изолированных функций — цифровое пространство семьи, где дом, бюджет, продукты, календарь и общение связаны между собой и обновляются вместе.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877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 И БЮДЖЕТ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926080"/>
            <a:ext cx="1874520" cy="777240"/>
          </a:xfrm>
          <a:prstGeom prst="roundRect">
            <a:avLst>
              <a:gd name="adj" fmla="val 10588"/>
            </a:avLst>
          </a:prstGeom>
          <a:solidFill>
            <a:srgbClr val="667A5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8368" y="2926080"/>
            <a:ext cx="16550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423160" y="292608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807208" y="2926080"/>
            <a:ext cx="1874520" cy="777240"/>
          </a:xfrm>
          <a:prstGeom prst="roundRect">
            <a:avLst>
              <a:gd name="adj" fmla="val 10588"/>
            </a:avLst>
          </a:prstGeom>
          <a:solidFill>
            <a:srgbClr val="667A5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916936" y="2926080"/>
            <a:ext cx="16550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Холодильник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681728" y="292608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065776" y="2926080"/>
            <a:ext cx="1874520" cy="777240"/>
          </a:xfrm>
          <a:prstGeom prst="roundRect">
            <a:avLst>
              <a:gd name="adj" fmla="val 10588"/>
            </a:avLst>
          </a:prstGeom>
          <a:solidFill>
            <a:srgbClr val="667A5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175504" y="2926080"/>
            <a:ext cx="16550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Продукты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940296" y="292608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7324344" y="2926080"/>
            <a:ext cx="1874520" cy="777240"/>
          </a:xfrm>
          <a:prstGeom prst="roundRect">
            <a:avLst>
              <a:gd name="adj" fmla="val 10588"/>
            </a:avLst>
          </a:prstGeom>
          <a:solidFill>
            <a:srgbClr val="667A5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34072" y="2926080"/>
            <a:ext cx="16550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Расход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9198864" y="292608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9582912" y="2926080"/>
            <a:ext cx="1874520" cy="777240"/>
          </a:xfrm>
          <a:prstGeom prst="roundRect">
            <a:avLst>
              <a:gd name="adj" fmla="val 10588"/>
            </a:avLst>
          </a:prstGeom>
          <a:solidFill>
            <a:srgbClr val="667A5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692640" y="2926080"/>
            <a:ext cx="16550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9593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СЕМЬЯ И СОБЫТИЯ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4297680"/>
            <a:ext cx="1874520" cy="777240"/>
          </a:xfrm>
          <a:prstGeom prst="roundRect">
            <a:avLst>
              <a:gd name="adj" fmla="val 10588"/>
            </a:avLst>
          </a:prstGeom>
          <a:solidFill>
            <a:srgbClr val="D38A6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4297680"/>
            <a:ext cx="16550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Член семьи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2423160" y="429768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38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2807208" y="4297680"/>
            <a:ext cx="1874520" cy="777240"/>
          </a:xfrm>
          <a:prstGeom prst="roundRect">
            <a:avLst>
              <a:gd name="adj" fmla="val 10588"/>
            </a:avLst>
          </a:prstGeom>
          <a:solidFill>
            <a:srgbClr val="D38A6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2916936" y="4297680"/>
            <a:ext cx="16550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Календарь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681728" y="429768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38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5065776" y="4297680"/>
            <a:ext cx="1874520" cy="777240"/>
          </a:xfrm>
          <a:prstGeom prst="roundRect">
            <a:avLst>
              <a:gd name="adj" fmla="val 10588"/>
            </a:avLst>
          </a:prstGeom>
          <a:solidFill>
            <a:srgbClr val="D38A6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175504" y="4297680"/>
            <a:ext cx="16550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Событие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940296" y="429768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38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7324344" y="4297680"/>
            <a:ext cx="1874520" cy="777240"/>
          </a:xfrm>
          <a:prstGeom prst="roundRect">
            <a:avLst>
              <a:gd name="adj" fmla="val 10588"/>
            </a:avLst>
          </a:prstGeom>
          <a:solidFill>
            <a:srgbClr val="D38A62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434072" y="4297680"/>
            <a:ext cx="16550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Уведомление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9198864" y="429768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38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9582912" y="4297680"/>
            <a:ext cx="1874520" cy="777240"/>
          </a:xfrm>
          <a:prstGeom prst="roundRect">
            <a:avLst>
              <a:gd name="adj" fmla="val 10588"/>
            </a:avLst>
          </a:prstGeom>
          <a:solidFill>
            <a:srgbClr val="D38A6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692640" y="4297680"/>
            <a:ext cx="16550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48640" y="5349240"/>
            <a:ext cx="10789920" cy="1005840"/>
          </a:xfrm>
          <a:prstGeom prst="roundRect">
            <a:avLst>
              <a:gd name="adj" fmla="val 9091"/>
            </a:avLst>
          </a:prstGeom>
          <a:solidFill>
            <a:srgbClr val="E5EBE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68680" y="534924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Ключевая ценность: изменение в одном разделе автоматически отражается в других — покупка продукта списывает бюджет, событие в календаре создаёт уведомление в чате.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Famigo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022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Шесть связанных разделов — один аккаунт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1907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отличие от Cozi и FamilyWall, где функции изолированы, в Famigo разделы обновляются вместе — это и есть ключевое отличие от альтернатив.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502152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4E4D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68296"/>
            <a:ext cx="512064" cy="512064"/>
          </a:xfrm>
          <a:prstGeom prst="ellipse">
            <a:avLst/>
          </a:prstGeom>
          <a:solidFill>
            <a:srgbClr val="667A5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3682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👨‍👩‍👧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99008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Семья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300984"/>
            <a:ext cx="30449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участники, роли, приглашения по ссылке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33672" y="2148840"/>
            <a:ext cx="3502152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4E4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62272" y="2368296"/>
            <a:ext cx="512064" cy="512064"/>
          </a:xfrm>
          <a:prstGeom prst="ellipse">
            <a:avLst/>
          </a:prstGeom>
          <a:solidFill>
            <a:srgbClr val="D38A6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462272" y="23682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462272" y="299008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462272" y="3300984"/>
            <a:ext cx="30449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общие доходы и расходы, история операций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918704" y="2148840"/>
            <a:ext cx="3502152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4E4D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47304" y="2368296"/>
            <a:ext cx="512064" cy="512064"/>
          </a:xfrm>
          <a:prstGeom prst="ellipse">
            <a:avLst/>
          </a:prstGeom>
          <a:solidFill>
            <a:srgbClr val="667A5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47304" y="23682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147304" y="299008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Календарь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147304" y="3300984"/>
            <a:ext cx="30449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общие события с доступом по ролям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023360"/>
            <a:ext cx="3502152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4E4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" y="4242816"/>
            <a:ext cx="512064" cy="512064"/>
          </a:xfrm>
          <a:prstGeom prst="ellipse">
            <a:avLst/>
          </a:prstGeom>
          <a:solidFill>
            <a:srgbClr val="D38A6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77240" y="42428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🧊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486460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Холодильник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175504"/>
            <a:ext cx="30449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учёт продуктов и срока годности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233672" y="4023360"/>
            <a:ext cx="3502152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4E4D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62272" y="4242816"/>
            <a:ext cx="512064" cy="512064"/>
          </a:xfrm>
          <a:prstGeom prst="ellipse">
            <a:avLst/>
          </a:prstGeom>
          <a:solidFill>
            <a:srgbClr val="667A5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462272" y="42428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🗺️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4462272" y="486460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Карта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4462272" y="5175504"/>
            <a:ext cx="30449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члены семьи, дома, сохранённые места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7918704" y="4023360"/>
            <a:ext cx="3502152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4E4D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47304" y="4242816"/>
            <a:ext cx="512064" cy="512064"/>
          </a:xfrm>
          <a:prstGeom prst="ellipse">
            <a:avLst/>
          </a:prstGeom>
          <a:solidFill>
            <a:srgbClr val="D38A6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147304" y="42428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8147304" y="486460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Чаты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8147304" y="5175504"/>
            <a:ext cx="30449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семейное общение в реальном времени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583387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Путь пользователя MVP:  Вход  →  Семья  →  Dashboard  →  Дом · Бюджет · Календарь · Чаты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610819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Технологии: React · TypeScript · Node.js · PostgreSQL · WebSocket · Docker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Famigo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РЫНОК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022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Семейная цифровизация растёт, но остаётся фрагментированной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029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Всё больше семей ведут быт цифровыми инструментами — от бюджетных приложений до семейных календарей. Но рынок состоит из узкоспециализированных сервисов: каждый закрывает одну задачу и не связан с остальными.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611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Целевая аудитория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3977640"/>
            <a:ext cx="91440" cy="91440"/>
          </a:xfrm>
          <a:prstGeom prst="ellipse">
            <a:avLst/>
          </a:prstGeom>
          <a:solidFill>
            <a:srgbClr val="D38A6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8587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Молодые семьи, ведущие общий бюджет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434840"/>
            <a:ext cx="91440" cy="91440"/>
          </a:xfrm>
          <a:prstGeom prst="ellipse">
            <a:avLst/>
          </a:prstGeom>
          <a:solidFill>
            <a:srgbClr val="D38A6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43159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Семьи с детьми и насыщенным календарём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892040"/>
            <a:ext cx="91440" cy="91440"/>
          </a:xfrm>
          <a:prstGeom prst="ellipse">
            <a:avLst/>
          </a:prstGeom>
          <a:solidFill>
            <a:srgbClr val="D38A6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47731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Домохозяйства из нескольких поколений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989320" y="1691640"/>
            <a:ext cx="5349240" cy="434340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4E4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09360" y="1947672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Famigo на фоне рынка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172200" y="2414016"/>
            <a:ext cx="4983480" cy="566928"/>
          </a:xfrm>
          <a:prstGeom prst="rect">
            <a:avLst/>
          </a:prstGeom>
          <a:solidFill>
            <a:srgbClr val="E5EBE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09360" y="2468880"/>
            <a:ext cx="2011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458200" y="2468880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Cozi / FamilyWall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0" y="2468880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Famigo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3035808"/>
            <a:ext cx="2011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 и траты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3035808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/ отдельно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0" y="3035808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встроен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72200" y="3547872"/>
            <a:ext cx="4983480" cy="566928"/>
          </a:xfrm>
          <a:prstGeom prst="rect">
            <a:avLst/>
          </a:prstGeom>
          <a:solidFill>
            <a:srgbClr val="F5F3E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309360" y="3602736"/>
            <a:ext cx="2011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Календарь семьи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458200" y="3602736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есть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0" y="3602736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есть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309360" y="4169664"/>
            <a:ext cx="2011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Учёт продуктов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458200" y="4169664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0" y="4169664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есть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172200" y="4681728"/>
            <a:ext cx="4983480" cy="566928"/>
          </a:xfrm>
          <a:prstGeom prst="rect">
            <a:avLst/>
          </a:prstGeom>
          <a:solidFill>
            <a:srgbClr val="F5F3E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309360" y="4736592"/>
            <a:ext cx="2011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Разделы связаны между собой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458200" y="4736592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0" y="4736592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Famigo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БИЗНЕС-МОДЕЛЬ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022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Монетизация через подписку и партнёрства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02152" cy="3566160"/>
          </a:xfrm>
          <a:prstGeom prst="roundRect">
            <a:avLst>
              <a:gd name="adj" fmla="val 2611"/>
            </a:avLst>
          </a:prstGeom>
          <a:solidFill>
            <a:srgbClr val="FFFFFF"/>
          </a:solidFill>
          <a:ln w="12700">
            <a:solidFill>
              <a:srgbClr val="E4E4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2148840"/>
            <a:ext cx="640080" cy="640080"/>
          </a:xfrm>
          <a:prstGeom prst="ellipse">
            <a:avLst/>
          </a:prstGeom>
          <a:solidFill>
            <a:srgbClr val="667A5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🆓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971800"/>
            <a:ext cx="29169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2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Freemium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3429000"/>
            <a:ext cx="291693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Базовые функции — семья, календарь, чат, бюджет — бесплатно для всех пользователей.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33672" y="1828800"/>
            <a:ext cx="3502152" cy="3566160"/>
          </a:xfrm>
          <a:prstGeom prst="roundRect">
            <a:avLst>
              <a:gd name="adj" fmla="val 2611"/>
            </a:avLst>
          </a:prstGeom>
          <a:solidFill>
            <a:srgbClr val="FFFFFF"/>
          </a:solidFill>
          <a:ln w="12700">
            <a:solidFill>
              <a:srgbClr val="E4E4D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26280" y="2148840"/>
            <a:ext cx="640080" cy="640080"/>
          </a:xfrm>
          <a:prstGeom prst="ellipse">
            <a:avLst/>
          </a:prstGeom>
          <a:solidFill>
            <a:srgbClr val="D38A6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2628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971800"/>
            <a:ext cx="29169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2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Premium-подписка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3429000"/>
            <a:ext cx="291693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Расширенная аналитика бюджета, больше домов и участников, приоритетная поддержка.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18704" y="1828800"/>
            <a:ext cx="3502152" cy="3566160"/>
          </a:xfrm>
          <a:prstGeom prst="roundRect">
            <a:avLst>
              <a:gd name="adj" fmla="val 2611"/>
            </a:avLst>
          </a:prstGeom>
          <a:solidFill>
            <a:srgbClr val="FFFFFF"/>
          </a:solidFill>
          <a:ln w="12700">
            <a:solidFill>
              <a:srgbClr val="E4E4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11312" y="2148840"/>
            <a:ext cx="640080" cy="640080"/>
          </a:xfrm>
          <a:prstGeom prst="ellipse">
            <a:avLst/>
          </a:prstGeom>
          <a:solidFill>
            <a:srgbClr val="667A5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11312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🤝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8211312" y="2971800"/>
            <a:ext cx="29169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2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B2B-партнёрства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211312" y="3429000"/>
            <a:ext cx="291693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Интеграции с сервисами доставки продуктов и банками для автоматического учёта трат.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Famigo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022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Три роли, закрывающие продукт, технологию и рост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02152" cy="3566160"/>
          </a:xfrm>
          <a:prstGeom prst="roundRect">
            <a:avLst>
              <a:gd name="adj" fmla="val 2611"/>
            </a:avLst>
          </a:prstGeom>
          <a:solidFill>
            <a:srgbClr val="FFFFFF"/>
          </a:solidFill>
          <a:ln w="12700">
            <a:solidFill>
              <a:srgbClr val="E4E4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2148840"/>
            <a:ext cx="822960" cy="822960"/>
          </a:xfrm>
          <a:prstGeom prst="ellipse">
            <a:avLst/>
          </a:prstGeom>
          <a:solidFill>
            <a:srgbClr val="667A5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2148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ЦА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3154680"/>
            <a:ext cx="2916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022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Цейсновский А.Э.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3520440"/>
            <a:ext cx="29169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Тимлид / разработчик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3931920"/>
            <a:ext cx="29169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проекта, разработка, координация команды.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33672" y="1828800"/>
            <a:ext cx="3502152" cy="3566160"/>
          </a:xfrm>
          <a:prstGeom prst="roundRect">
            <a:avLst>
              <a:gd name="adj" fmla="val 2611"/>
            </a:avLst>
          </a:prstGeom>
          <a:solidFill>
            <a:srgbClr val="FFFFFF"/>
          </a:solidFill>
          <a:ln w="12700">
            <a:solidFill>
              <a:srgbClr val="E4E4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26280" y="2148840"/>
            <a:ext cx="822960" cy="822960"/>
          </a:xfrm>
          <a:prstGeom prst="ellipse">
            <a:avLst/>
          </a:prstGeom>
          <a:solidFill>
            <a:srgbClr val="667A5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26280" y="2148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ЛС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3154680"/>
            <a:ext cx="2916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022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Лапутин С.А.</a:t>
            </a:r>
            <a:endParaRPr lang="en-US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4526280" y="3520440"/>
            <a:ext cx="29169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Разработчик / аналитик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3931920"/>
            <a:ext cx="29169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Анализ требований, разработка, проработка функциональности.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918704" y="1828800"/>
            <a:ext cx="3502152" cy="3566160"/>
          </a:xfrm>
          <a:prstGeom prst="roundRect">
            <a:avLst>
              <a:gd name="adj" fmla="val 2611"/>
            </a:avLst>
          </a:prstGeom>
          <a:solidFill>
            <a:srgbClr val="FFFFFF"/>
          </a:solidFill>
          <a:ln w="12700">
            <a:solidFill>
              <a:srgbClr val="E4E4D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11312" y="2148840"/>
            <a:ext cx="822960" cy="822960"/>
          </a:xfrm>
          <a:prstGeom prst="ellipse">
            <a:avLst/>
          </a:prstGeom>
          <a:solidFill>
            <a:srgbClr val="667A5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11312" y="2148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ТГ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8211312" y="3154680"/>
            <a:ext cx="2916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022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Толмачев Г.А.</a:t>
            </a:r>
            <a:endParaRPr lang="en-US" sz="1650" dirty="0"/>
          </a:p>
        </p:txBody>
      </p:sp>
      <p:sp>
        <p:nvSpPr>
          <p:cNvPr id="20" name="Text 18"/>
          <p:cNvSpPr txBox="1"/>
          <p:nvPr/>
        </p:nvSpPr>
        <p:spPr>
          <a:xfrm>
            <a:off x="8211312" y="3520440"/>
            <a:ext cx="29169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Разработчик / маркетолог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211312" y="3931920"/>
            <a:ext cx="29169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Разработка, маркетинговая стратегия, анализ рынка и аудитории.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Famigo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ПРОГРЕСС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022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MVP в разработке, дальнейший путь определён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246120" cy="365760"/>
          </a:xfrm>
          <a:prstGeom prst="roundRect">
            <a:avLst>
              <a:gd name="adj" fmla="val 50000"/>
            </a:avLst>
          </a:prstGeom>
          <a:solidFill>
            <a:srgbClr val="E5EB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Этап: Pre-seed · MVP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128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Готовность MVP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606040"/>
            <a:ext cx="146304" cy="146304"/>
          </a:xfrm>
          <a:prstGeom prst="ellipse">
            <a:avLst/>
          </a:prstGeom>
          <a:solidFill>
            <a:srgbClr val="667A5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04672" y="256032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Регистрация и авторизация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2606040"/>
            <a:ext cx="146304" cy="146304"/>
          </a:xfrm>
          <a:prstGeom prst="ellipse">
            <a:avLst/>
          </a:prstGeom>
          <a:solidFill>
            <a:srgbClr val="667A5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502152" y="256032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Семья и приглашения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990088"/>
            <a:ext cx="146304" cy="146304"/>
          </a:xfrm>
          <a:prstGeom prst="ellipse">
            <a:avLst/>
          </a:prstGeom>
          <a:solidFill>
            <a:srgbClr val="667A5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4672" y="294436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Бюджет: доходы / расходы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46120" y="2990088"/>
            <a:ext cx="146304" cy="146304"/>
          </a:xfrm>
          <a:prstGeom prst="ellipse">
            <a:avLst/>
          </a:prstGeom>
          <a:solidFill>
            <a:srgbClr val="667A5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502152" y="294436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Календарь событий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374136"/>
            <a:ext cx="146304" cy="146304"/>
          </a:xfrm>
          <a:prstGeom prst="ellipse">
            <a:avLst/>
          </a:prstGeom>
          <a:solidFill>
            <a:srgbClr val="667A5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4672" y="332841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Холодильник и продукты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46120" y="3374136"/>
            <a:ext cx="146304" cy="146304"/>
          </a:xfrm>
          <a:prstGeom prst="ellipse">
            <a:avLst/>
          </a:prstGeom>
          <a:solidFill>
            <a:srgbClr val="667A5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502152" y="332841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Семейный чат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9502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Дорожная карта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297680"/>
            <a:ext cx="1508760" cy="420624"/>
          </a:xfrm>
          <a:prstGeom prst="roundRect">
            <a:avLst>
              <a:gd name="adj" fmla="val 50000"/>
            </a:avLst>
          </a:prstGeom>
          <a:solidFill>
            <a:srgbClr val="667A5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4297680"/>
            <a:ext cx="150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2057400" y="429768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2331720" y="4297680"/>
            <a:ext cx="1508760" cy="420624"/>
          </a:xfrm>
          <a:prstGeom prst="roundRect">
            <a:avLst>
              <a:gd name="adj" fmla="val 50000"/>
            </a:avLst>
          </a:prstGeom>
          <a:solidFill>
            <a:srgbClr val="F3E2D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331720" y="4297680"/>
            <a:ext cx="150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38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3840480" y="429768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4114800" y="4297680"/>
            <a:ext cx="1508760" cy="420624"/>
          </a:xfrm>
          <a:prstGeom prst="roundRect">
            <a:avLst>
              <a:gd name="adj" fmla="val 50000"/>
            </a:avLst>
          </a:prstGeom>
          <a:solidFill>
            <a:srgbClr val="F3E2D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114800" y="4297680"/>
            <a:ext cx="150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38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4864608"/>
            <a:ext cx="5349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Основной сценарий: семья, бюджет, календарь, продукты, чат   ·   Уведомления, карта, список покупок, оповещения о продуктах   ·   Real-time геолокация, push, аналитика, автоматизация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925312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07.09.2026 — список покупок добавлен в экосистему, рассматривается для включения в MVP.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263640" y="1691640"/>
            <a:ext cx="5074920" cy="434340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4E4D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583680" y="1947672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Технологический стек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0" y="246888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6583680" y="2761488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React, TypeScript, React Router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583680" y="3218688"/>
            <a:ext cx="4434840" cy="0"/>
          </a:xfrm>
          <a:prstGeom prst="line">
            <a:avLst/>
          </a:prstGeom>
          <a:noFill/>
          <a:ln w="9525">
            <a:solidFill>
              <a:srgbClr val="E4E4D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583680" y="3310128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6583680" y="3602736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Node.js, NestJS / Express, REST, WebSocket, JWT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583680" y="4059936"/>
            <a:ext cx="4434840" cy="0"/>
          </a:xfrm>
          <a:prstGeom prst="line">
            <a:avLst/>
          </a:prstGeom>
          <a:noFill/>
          <a:ln w="9525">
            <a:solidFill>
              <a:srgbClr val="E4E4D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583680" y="4151376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данных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6583680" y="444398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6583680" y="4901184"/>
            <a:ext cx="4434840" cy="0"/>
          </a:xfrm>
          <a:prstGeom prst="line">
            <a:avLst/>
          </a:prstGeom>
          <a:noFill/>
          <a:ln w="9525">
            <a:solidFill>
              <a:srgbClr val="E4E4DE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583680" y="4992624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Инфраструктура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6583680" y="5285232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Docker, Git, CI/CD, Swagger/OpenAPI</a:t>
            </a:r>
            <a:endParaRPr lang="en-US" sz="1250" dirty="0"/>
          </a:p>
        </p:txBody>
      </p:sp>
      <p:sp>
        <p:nvSpPr>
          <p:cNvPr id="43" name="Text 41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Famigo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2062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ИНВЕСТИЦИИ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022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Привлекаем средства на запуск MVP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667A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$50 000</a:t>
            </a:r>
            <a:endParaRPr lang="en-US" sz="5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посевном раунде (бизнес-ангел / грантовая программа)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42900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Средства пойдут на завершение MVP, запуск для первых семей-пользователей и старт продвижения продукта.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4709160"/>
            <a:ext cx="4206240" cy="1234440"/>
          </a:xfrm>
          <a:prstGeom prst="roundRect">
            <a:avLst>
              <a:gd name="adj" fmla="val 7407"/>
            </a:avLst>
          </a:prstGeom>
          <a:solidFill>
            <a:srgbClr val="E5EB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4864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Условия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138928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0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в проекте — по договорённости, ориентир на раунд предпосевной стадии.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623560" y="1783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что пойдут средства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5623560" y="2148840"/>
          <a:ext cx="493776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Famigo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37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667A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-1280160"/>
            <a:ext cx="3657600" cy="3657600"/>
          </a:xfrm>
          <a:prstGeom prst="ellipse">
            <a:avLst/>
          </a:prstGeom>
          <a:solidFill>
            <a:srgbClr val="E5EBE0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937760"/>
            <a:ext cx="3108960" cy="3108960"/>
          </a:xfrm>
          <a:prstGeom prst="ellipse">
            <a:avLst/>
          </a:prstGeom>
          <a:solidFill>
            <a:srgbClr val="F3E2D8">
              <a:alpha val="12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92024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Спасибо!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880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3E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Famigo — свяжем семью в одном цифровом пространстве.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22960" y="4023360"/>
            <a:ext cx="3291840" cy="0"/>
          </a:xfrm>
          <a:prstGeom prst="line">
            <a:avLst/>
          </a:prstGeom>
          <a:noFill/>
          <a:ln w="9525">
            <a:solidFill>
              <a:srgbClr val="E5EBE0">
                <a:alpha val="6000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4251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Цейсновский А.Э. — тимлид, разработка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6177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Лапутин С.А. — анализ, разработка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983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Толмачев Г.А. — маркетинг, разработка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Famigo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5E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2026-09-26T13:21:16Z</dcterms:created>
  <dcterms:modified xsi:type="dcterms:W3CDTF">2026-09-26T13:21:16Z</dcterms:modified>
</cp:coreProperties>
</file>